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01AD0-26E5-4814-A54B-0E87DB6941CD}" v="3" dt="2026-09-18T18:27:47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hil rathlavath" userId="f868eeebc09aae25" providerId="LiveId" clId="{2746C07E-E0FD-4866-94CF-9573DC10120D}"/>
    <pc:docChg chg="undo custSel modSld">
      <pc:chgData name="akhil rathlavath" userId="f868eeebc09aae25" providerId="LiveId" clId="{2746C07E-E0FD-4866-94CF-9573DC10120D}" dt="2026-09-18T18:27:31.133" v="42"/>
      <pc:docMkLst>
        <pc:docMk/>
      </pc:docMkLst>
      <pc:sldChg chg="addSp delSp modSp mod">
        <pc:chgData name="akhil rathlavath" userId="f868eeebc09aae25" providerId="LiveId" clId="{2746C07E-E0FD-4866-94CF-9573DC10120D}" dt="2026-09-18T17:55:29.907" v="3" actId="931"/>
        <pc:sldMkLst>
          <pc:docMk/>
          <pc:sldMk cId="0" sldId="257"/>
        </pc:sldMkLst>
        <pc:picChg chg="add del mod">
          <ac:chgData name="akhil rathlavath" userId="f868eeebc09aae25" providerId="LiveId" clId="{2746C07E-E0FD-4866-94CF-9573DC10120D}" dt="2026-09-18T17:53:00.497" v="2" actId="21"/>
          <ac:picMkLst>
            <pc:docMk/>
            <pc:sldMk cId="0" sldId="257"/>
            <ac:picMk id="14" creationId="{14B2619C-8AF4-FF66-5B66-AD91BFE854FD}"/>
          </ac:picMkLst>
        </pc:picChg>
        <pc:picChg chg="add mod">
          <ac:chgData name="akhil rathlavath" userId="f868eeebc09aae25" providerId="LiveId" clId="{2746C07E-E0FD-4866-94CF-9573DC10120D}" dt="2026-09-18T17:55:29.907" v="3" actId="931"/>
          <ac:picMkLst>
            <pc:docMk/>
            <pc:sldMk cId="0" sldId="257"/>
            <ac:picMk id="16" creationId="{419CCE7B-B23E-442B-5A22-BDB8E4762944}"/>
          </ac:picMkLst>
        </pc:picChg>
      </pc:sldChg>
      <pc:sldChg chg="addSp modSp mod">
        <pc:chgData name="akhil rathlavath" userId="f868eeebc09aae25" providerId="LiveId" clId="{2746C07E-E0FD-4866-94CF-9573DC10120D}" dt="2026-09-18T17:59:37.277" v="4" actId="931"/>
        <pc:sldMkLst>
          <pc:docMk/>
          <pc:sldMk cId="0" sldId="258"/>
        </pc:sldMkLst>
        <pc:picChg chg="add mod">
          <ac:chgData name="akhil rathlavath" userId="f868eeebc09aae25" providerId="LiveId" clId="{2746C07E-E0FD-4866-94CF-9573DC10120D}" dt="2026-09-18T17:59:37.277" v="4" actId="931"/>
          <ac:picMkLst>
            <pc:docMk/>
            <pc:sldMk cId="0" sldId="258"/>
            <ac:picMk id="11" creationId="{EA9F4A27-8BDB-4B6C-D0D2-B3528FD9B1CB}"/>
          </ac:picMkLst>
        </pc:picChg>
      </pc:sldChg>
      <pc:sldChg chg="addSp modSp mod">
        <pc:chgData name="akhil rathlavath" userId="f868eeebc09aae25" providerId="LiveId" clId="{2746C07E-E0FD-4866-94CF-9573DC10120D}" dt="2026-09-18T18:02:20.256" v="5" actId="931"/>
        <pc:sldMkLst>
          <pc:docMk/>
          <pc:sldMk cId="0" sldId="259"/>
        </pc:sldMkLst>
        <pc:picChg chg="add mod">
          <ac:chgData name="akhil rathlavath" userId="f868eeebc09aae25" providerId="LiveId" clId="{2746C07E-E0FD-4866-94CF-9573DC10120D}" dt="2026-09-18T18:02:20.256" v="5" actId="931"/>
          <ac:picMkLst>
            <pc:docMk/>
            <pc:sldMk cId="0" sldId="259"/>
            <ac:picMk id="13" creationId="{CC3D89E6-AD8E-BF5D-8C6C-03D74C8DB137}"/>
          </ac:picMkLst>
        </pc:picChg>
      </pc:sldChg>
      <pc:sldChg chg="addSp modSp mod">
        <pc:chgData name="akhil rathlavath" userId="f868eeebc09aae25" providerId="LiveId" clId="{2746C07E-E0FD-4866-94CF-9573DC10120D}" dt="2026-09-18T18:05:40.551" v="6" actId="931"/>
        <pc:sldMkLst>
          <pc:docMk/>
          <pc:sldMk cId="0" sldId="260"/>
        </pc:sldMkLst>
        <pc:picChg chg="mod">
          <ac:chgData name="akhil rathlavath" userId="f868eeebc09aae25" providerId="LiveId" clId="{2746C07E-E0FD-4866-94CF-9573DC10120D}" dt="2026-09-18T17:46:10.886" v="0" actId="1076"/>
          <ac:picMkLst>
            <pc:docMk/>
            <pc:sldMk cId="0" sldId="260"/>
            <ac:picMk id="13" creationId="{00000000-0000-0000-0000-000000000000}"/>
          </ac:picMkLst>
        </pc:picChg>
        <pc:picChg chg="add mod">
          <ac:chgData name="akhil rathlavath" userId="f868eeebc09aae25" providerId="LiveId" clId="{2746C07E-E0FD-4866-94CF-9573DC10120D}" dt="2026-09-18T18:05:40.551" v="6" actId="931"/>
          <ac:picMkLst>
            <pc:docMk/>
            <pc:sldMk cId="0" sldId="260"/>
            <ac:picMk id="15" creationId="{FF6CBE35-5F62-882A-7551-01DB26984B82}"/>
          </ac:picMkLst>
        </pc:picChg>
      </pc:sldChg>
      <pc:sldChg chg="addSp delSp modSp mod">
        <pc:chgData name="akhil rathlavath" userId="f868eeebc09aae25" providerId="LiveId" clId="{2746C07E-E0FD-4866-94CF-9573DC10120D}" dt="2026-09-18T18:27:31.133" v="42"/>
        <pc:sldMkLst>
          <pc:docMk/>
          <pc:sldMk cId="0" sldId="261"/>
        </pc:sldMkLst>
        <pc:spChg chg="add del">
          <ac:chgData name="akhil rathlavath" userId="f868eeebc09aae25" providerId="LiveId" clId="{2746C07E-E0FD-4866-94CF-9573DC10120D}" dt="2026-09-18T18:14:04.308" v="9" actId="21"/>
          <ac:spMkLst>
            <pc:docMk/>
            <pc:sldMk cId="0" sldId="261"/>
            <ac:spMk id="11" creationId="{D1B718C1-E010-66C4-0A09-54D2288E9A07}"/>
          </ac:spMkLst>
        </pc:spChg>
        <pc:spChg chg="add mod ord">
          <ac:chgData name="akhil rathlavath" userId="f868eeebc09aae25" providerId="LiveId" clId="{2746C07E-E0FD-4866-94CF-9573DC10120D}" dt="2026-09-18T18:27:31.133" v="42"/>
          <ac:spMkLst>
            <pc:docMk/>
            <pc:sldMk cId="0" sldId="261"/>
            <ac:spMk id="12" creationId="{927B3F2B-EAFF-F05E-059B-C14C383A0B98}"/>
          </ac:spMkLst>
        </pc:spChg>
        <pc:picChg chg="add mod">
          <ac:chgData name="akhil rathlavath" userId="f868eeebc09aae25" providerId="LiveId" clId="{2746C07E-E0FD-4866-94CF-9573DC10120D}" dt="2026-09-18T18:15:26.616" v="16" actId="1076"/>
          <ac:picMkLst>
            <pc:docMk/>
            <pc:sldMk cId="0" sldId="261"/>
            <ac:picMk id="10" creationId="{AC96AACC-1386-1448-77D2-F65EFF66004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railway-block-planner-ei5s.onrender.com/" TargetMode="Externa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2011680" cy="1203710"/>
          </a:xfrm>
          <a:prstGeom prst="rect">
            <a:avLst/>
          </a:prstGeom>
        </p:spPr>
      </p:pic>
      <p:pic>
        <p:nvPicPr>
          <p:cNvPr id="3" name="Picture 2" descr="sih_bulb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280160"/>
            <a:ext cx="4572000" cy="5230678"/>
          </a:xfrm>
          <a:prstGeom prst="rect">
            <a:avLst/>
          </a:prstGeom>
        </p:spPr>
      </p:pic>
      <p:pic>
        <p:nvPicPr>
          <p:cNvPr id="4" name="Picture 3" descr="tea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0" y="502920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"/>
            <a:ext cx="8686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F497D"/>
                </a:solidFill>
                <a:latin typeface="Garamond"/>
              </a:defRPr>
            </a:pPr>
            <a:r>
              <a:t>SMART INDIA HACKATHON 2026</a:t>
            </a:r>
          </a:p>
          <a:p>
            <a:pPr algn="ctr">
              <a:defRPr sz="2800" b="1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Problem Statement ID – </a:t>
            </a:r>
            <a:r>
              <a:rPr sz="1600" b="1">
                <a:solidFill>
                  <a:srgbClr val="C00000"/>
                </a:solidFill>
                <a:latin typeface="Arial"/>
              </a:rPr>
              <a:t>SIH26028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Problem Statement Title- </a:t>
            </a:r>
            <a:r>
              <a:rPr sz="1600" b="1">
                <a:solidFill>
                  <a:srgbClr val="C00000"/>
                </a:solidFill>
                <a:latin typeface="Arial"/>
              </a:rPr>
              <a:t>AI-Driven Dynamic Section Controller &amp; Track Maintenance Block Scheduling System for Indian Railways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PS Category- </a:t>
            </a:r>
            <a:r>
              <a:rPr sz="1600" b="1">
                <a:solidFill>
                  <a:srgbClr val="1F497D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Theme- Transportation &amp; Logistics / Smart Railways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Team ID- SIH-26028-TEAM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• Team Name (Registered on portal) : </a:t>
            </a:r>
            <a:r>
              <a:rPr sz="1600" b="1">
                <a:solidFill>
                  <a:srgbClr val="C00000"/>
                </a:solidFill>
                <a:latin typeface="Arial"/>
              </a:rPr>
              <a:t>RailTrack Pioneers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37360" cy="1039568"/>
          </a:xfrm>
          <a:prstGeom prst="rect">
            <a:avLst/>
          </a:prstGeom>
        </p:spPr>
      </p:pic>
      <p:pic>
        <p:nvPicPr>
          <p:cNvPr id="3" name="Picture 2" descr="t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1005840" cy="1005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419088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4592"/>
            <a:ext cx="8412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497D"/>
                </a:solidFill>
                <a:latin typeface="Times New Roman"/>
              </a:defRPr>
            </a:pPr>
            <a:r>
              <a:t>AI-Driven Section Controller &amp; Maintenance Block Planner</a:t>
            </a:r>
          </a:p>
          <a:p>
            <a:pPr algn="ctr">
              <a:defRPr sz="2100" b="1">
                <a:solidFill>
                  <a:srgbClr val="1F497D"/>
                </a:solidFill>
                <a:latin typeface="Times New Roman"/>
              </a:defRPr>
            </a:pPr>
            <a:r>
              <a:t>❖ 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03520" cy="3108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497D"/>
                </a:solidFill>
                <a:latin typeface="Arial"/>
              </a:defRPr>
            </a:pPr>
            <a:r>
              <a:t>We Propose: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Autonomous Block Scheduling:</a:t>
            </a:r>
            <a:r>
              <a:rPr sz="1200">
                <a:solidFill>
                  <a:srgbClr val="1E293B"/>
                </a:solidFill>
                <a:latin typeface="Arial"/>
              </a:rPr>
              <a:t> Constraint Programming (Google OR-Tools CP-SAT) dynamically computes conflict-free 2-4 hour track possession windows without cancelling express trains.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Kinematic Conflict Gating:</a:t>
            </a:r>
            <a:r>
              <a:rPr sz="1200">
                <a:solidFill>
                  <a:srgbClr val="1E293B"/>
                </a:solidFill>
                <a:latin typeface="Arial"/>
              </a:rPr>
              <a:t> Continuous GPS/NavIC tracking with mathematical 5-minute safety headway enforcement between trains and heavy track machines.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Multi-Model ETA Predictor:</a:t>
            </a:r>
            <a:r>
              <a:rPr sz="1200">
                <a:solidFill>
                  <a:srgbClr val="1E293B"/>
                </a:solidFill>
                <a:latin typeface="Arial"/>
              </a:rPr>
              <a:t> SLSQP + XGBoost meta-ensemble predicting dynamic section arrival times with sub-2-minute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617720"/>
            <a:ext cx="530352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spcAft>
                <a:spcPts val="600"/>
              </a:spcAft>
              <a:defRPr sz="1600" b="1" u="sng">
                <a:solidFill>
                  <a:srgbClr val="1F497D"/>
                </a:solidFill>
                <a:latin typeface="Arial"/>
              </a:defRPr>
            </a:pPr>
            <a:r>
              <a:t>Uniqueness: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Closed-Loop Dual Control:</a:t>
            </a:r>
            <a:r>
              <a:rPr sz="1200">
                <a:solidFill>
                  <a:srgbClr val="1E293B"/>
                </a:solidFill>
                <a:latin typeface="Arial"/>
              </a:rPr>
              <a:t> Section Controller Gantt workbench + passenger transparency portal.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Dynamic IMD Weather Guardrail:</a:t>
            </a:r>
            <a:r>
              <a:rPr sz="1200">
                <a:solidFill>
                  <a:srgbClr val="1E293B"/>
                </a:solidFill>
                <a:latin typeface="Arial"/>
              </a:rPr>
              <a:t> Automatically expands safety buffers (+5m/+10m) upon adverse rain/fog alerts.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371600"/>
            <a:ext cx="59436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29260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• Mathematical G&amp;SR Compliance:
</a:t>
            </a:r>
            <a:r>
              <a:rPr sz="1200">
                <a:solidFill>
                  <a:srgbClr val="1E293B"/>
                </a:solidFill>
                <a:latin typeface="Arial"/>
              </a:rPr>
              <a:t> Enforces Indian Railways Block Working Rules and automatic signaling blocks.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• Sub-1.2s Optimization Speed:
</a:t>
            </a:r>
            <a:r>
              <a:rPr sz="1200">
                <a:solidFill>
                  <a:srgbClr val="1E293B"/>
                </a:solidFill>
                <a:latin typeface="Arial"/>
              </a:rPr>
              <a:t> Evaluates 40+ track parameters simultaneously on standard laptops.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• Local SQLite WAL Continuity:
</a:t>
            </a:r>
            <a:r>
              <a:rPr sz="1200">
                <a:solidFill>
                  <a:srgbClr val="1E293B"/>
                </a:solidFill>
                <a:latin typeface="Arial"/>
              </a:rPr>
              <a:t> Ensures 100% offline continuity during fiber or WAN connectivity failures.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1F497D"/>
                </a:solidFill>
                <a:latin typeface="Arial"/>
              </a:rPr>
              <a:t>• Multi-Corridor Scalability:
</a:t>
            </a:r>
            <a:r>
              <a:rPr sz="1200">
                <a:solidFill>
                  <a:srgbClr val="1E293B"/>
                </a:solidFill>
                <a:latin typeface="Arial"/>
              </a:rPr>
              <a:t> Tested on high-density New Delhi – Ludhiana – Jammu Tawi section.</a:t>
            </a:r>
          </a:p>
        </p:txBody>
      </p:sp>
      <p:pic>
        <p:nvPicPr>
          <p:cNvPr id="12" name="Picture 11" descr="prototype_controller_work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1554480"/>
            <a:ext cx="2743200" cy="2057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9CCE7B-B23E-442B-5A22-BDB8E4762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37360" cy="1039568"/>
          </a:xfrm>
          <a:prstGeom prst="rect">
            <a:avLst/>
          </a:prstGeom>
        </p:spPr>
      </p:pic>
      <p:pic>
        <p:nvPicPr>
          <p:cNvPr id="3" name="Picture 2" descr="t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5603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497D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6419088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484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F497D"/>
                </a:solidFill>
                <a:latin typeface="Arial"/>
              </a:defRPr>
            </a:pPr>
            <a:r>
              <a:t>Core Technology Stack &amp; Architecture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Optimization Engine: </a:t>
            </a:r>
            <a:r>
              <a:rPr sz="1150">
                <a:solidFill>
                  <a:srgbClr val="1E293B"/>
                </a:solidFill>
                <a:latin typeface="Arial"/>
              </a:rPr>
              <a:t>Google OR-Tools 9.10 (CP-SAT Solver) with integer linear constraints and dynamic slack.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Backend Services: </a:t>
            </a:r>
            <a:r>
              <a:rPr sz="1150">
                <a:solidFill>
                  <a:srgbClr val="1E293B"/>
                </a:solidFill>
                <a:latin typeface="Arial"/>
              </a:rPr>
              <a:t>FastAPI (Python 3.11), Uvicorn ASGI, REST APIs, WebSockets for live telemetry broadcast.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Machine Learning: </a:t>
            </a:r>
            <a:r>
              <a:rPr sz="1150">
                <a:solidFill>
                  <a:srgbClr val="1E293B"/>
                </a:solidFill>
                <a:latin typeface="Arial"/>
              </a:rPr>
              <a:t>Dynamic ETA Predictor: Meta-Ensemble (SLSQP, XGBoost, Random Forest) trained on IR timetable data.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Data Ingestion: </a:t>
            </a:r>
            <a:r>
              <a:rPr sz="1150">
                <a:solidFill>
                  <a:srgbClr val="1E293B"/>
                </a:solidFill>
                <a:latin typeface="Arial"/>
              </a:rPr>
              <a:t>CRIS NTES connector, Open-Meteo REST API, and IMD Weather Telemetry client with fallback cache.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Database &amp; Persistence: </a:t>
            </a:r>
            <a:r>
              <a:rPr sz="1150">
                <a:solidFill>
                  <a:srgbClr val="1E293B"/>
                </a:solidFill>
                <a:latin typeface="Arial"/>
              </a:rPr>
              <a:t>Supabase Cloud PostgreSQL with resilient local SQLite WAL offline auto-sync.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00000"/>
                </a:solidFill>
                <a:latin typeface="Arial"/>
              </a:rPr>
              <a:t>• Frontend &amp; Maps: </a:t>
            </a:r>
            <a:r>
              <a:rPr sz="1150">
                <a:solidFill>
                  <a:srgbClr val="1E293B"/>
                </a:solidFill>
                <a:latin typeface="Arial"/>
              </a:rPr>
              <a:t>Streamlit responsive mobile/desktop dashboard, Plotly interactive OpenStreetMap GIS tracking.</a:t>
            </a:r>
          </a:p>
        </p:txBody>
      </p:sp>
      <p:pic>
        <p:nvPicPr>
          <p:cNvPr id="9" name="Picture 8" descr="architecture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486400" cy="49377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9F4A27-8BDB-4B6C-D0D2-B3528FD9B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37360" cy="1039568"/>
          </a:xfrm>
          <a:prstGeom prst="rect">
            <a:avLst/>
          </a:prstGeom>
        </p:spPr>
      </p:pic>
      <p:pic>
        <p:nvPicPr>
          <p:cNvPr id="3" name="Picture 2" descr="t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5603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497D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6419088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00584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Times New Roman"/>
              </a:defRPr>
            </a:pPr>
            <a:r>
              <a:t>Challenges &amp;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4864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ctr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Arial"/>
              </a:rPr>
              <a:t>Operational Feasibility: </a:t>
            </a:r>
            <a:r>
              <a:rPr sz="1200">
                <a:solidFill>
                  <a:srgbClr val="1E293B"/>
                </a:solidFill>
                <a:latin typeface="Arial"/>
              </a:rPr>
              <a:t>Controller workflow requires zero retraining.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Fits standard Control Office Application (COA) layout.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Replaces chaotic phone calls with single-click advisory.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Supports dynamic maintenance window adjustments.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Arial"/>
              </a:rPr>
              <a:t>Technical Feasibility: </a:t>
            </a:r>
            <a:r>
              <a:rPr sz="1200">
                <a:solidFill>
                  <a:srgbClr val="1E293B"/>
                </a:solidFill>
                <a:latin typeface="Arial"/>
              </a:rPr>
              <a:t>FastAPI + Google OR-Tools + Scikit-Learn.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Sub-1.2s optimization solves full section schedules.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100% offline continuity with SQLite WAL database.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Seamless integration with ISRO NavIC GPS telemetry.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Arial"/>
              </a:rPr>
              <a:t>Economic Feasibility: </a:t>
            </a:r>
            <a:r>
              <a:rPr sz="1200">
                <a:solidFill>
                  <a:srgbClr val="1E293B"/>
                </a:solidFill>
                <a:latin typeface="Arial"/>
              </a:rPr>
              <a:t>Zero trackside hardware procurement cost.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Uses existing locomotive GPS &amp; CRIS NTES feeds.</a:t>
            </a:r>
          </a:p>
          <a:p>
            <a:pPr>
              <a:spcAft>
                <a:spcPts val="3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Recovers ₹100s of crores in avoided idle fuel.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t>Maximizes return on high-speed rail corridors.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0200"/>
            <a:ext cx="2834640" cy="4617720"/>
          </a:xfrm>
          <a:prstGeom prst="rect">
            <a:avLst/>
          </a:prstGeom>
          <a:solidFill>
            <a:srgbClr val="FB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GPS drift &amp; telemetry packet loss in remote railway terrains</a:t>
            </a:r>
          </a:p>
          <a:p>
            <a:pPr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Sudden extreme monsoon rains and severe winter fog</a:t>
            </a:r>
          </a:p>
          <a:p>
            <a:pPr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Congested mixed traffic: high-speed Vande Bharat vs freight</a:t>
            </a:r>
          </a:p>
          <a:p>
            <a:pPr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High track worker safety risks during emergency possessions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600200"/>
            <a:ext cx="2834640" cy="4617720"/>
          </a:xfrm>
          <a:prstGeom prst="rect">
            <a:avLst/>
          </a:prstGeom>
          <a:solidFill>
            <a:srgbClr val="D8E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rtlCol="0" anchor="ctr"/>
          <a:lstStyle/>
          <a:p>
            <a:pPr algn="ctr"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Kinematic dead-reckoning filter with local SQLite WAL sync</a:t>
            </a:r>
          </a:p>
          <a:p>
            <a:pPr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Automated IMD weather guardrail injecting dynamic buffers (+5m/+10m)</a:t>
            </a:r>
          </a:p>
          <a:p>
            <a:pPr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Priority-weighted CP-SAT solver protects high-priority express slots</a:t>
            </a:r>
          </a:p>
          <a:p>
            <a:pPr>
              <a:spcAft>
                <a:spcPts val="1800"/>
              </a:spcAft>
              <a:defRPr sz="1250">
                <a:solidFill>
                  <a:srgbClr val="1E293B"/>
                </a:solidFill>
                <a:latin typeface="Arial"/>
              </a:defRPr>
            </a:pPr>
            <a:r>
              <a:t>• Cryptographic token commit gating before track section lock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3D89E6-AD8E-BF5D-8C6C-03D74C8DB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37360" cy="1039568"/>
          </a:xfrm>
          <a:prstGeom prst="rect">
            <a:avLst/>
          </a:prstGeom>
        </p:spPr>
      </p:pic>
      <p:pic>
        <p:nvPicPr>
          <p:cNvPr id="3" name="Picture 2" descr="t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1005840" cy="1005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25603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497D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6419088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029200" cy="224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spcAft>
                <a:spcPts val="500"/>
              </a:spcAft>
              <a:defRPr sz="1600" b="1">
                <a:solidFill>
                  <a:srgbClr val="1F497D"/>
                </a:solidFill>
                <a:latin typeface="Arial"/>
              </a:defRPr>
            </a:pPr>
            <a:r>
              <a:rPr dirty="0"/>
              <a:t>Potential Impact (Dynamic ETA Precision):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• Sub-2-Minute ETA Accuracy: </a:t>
            </a:r>
            <a:r>
              <a:rPr sz="1100" dirty="0">
                <a:solidFill>
                  <a:srgbClr val="1E293B"/>
                </a:solidFill>
                <a:latin typeface="Arial"/>
              </a:rPr>
              <a:t>Meta-ensemble (SLSQP + </a:t>
            </a:r>
            <a:r>
              <a:rPr sz="1100" dirty="0" err="1">
                <a:solidFill>
                  <a:srgbClr val="1E293B"/>
                </a:solidFill>
                <a:latin typeface="Arial"/>
              </a:rPr>
              <a:t>XGBoost</a:t>
            </a:r>
            <a:r>
              <a:rPr sz="1100" dirty="0">
                <a:solidFill>
                  <a:srgbClr val="1E293B"/>
                </a:solidFill>
                <a:latin typeface="Arial"/>
              </a:rPr>
              <a:t>) predicts dynamic section arrival &amp; clearance times with sub-2-min precision.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• Zero Cascading Delays: </a:t>
            </a:r>
            <a:r>
              <a:rPr sz="1100" dirty="0">
                <a:solidFill>
                  <a:srgbClr val="1E293B"/>
                </a:solidFill>
                <a:latin typeface="Arial"/>
              </a:rPr>
              <a:t>Real-time dynamic ETA updates eliminate false loop-line siding halts and stop knock-on delay propagation.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• Conflict-Free Block Windows: </a:t>
            </a:r>
            <a:r>
              <a:rPr sz="1100" dirty="0">
                <a:solidFill>
                  <a:srgbClr val="1E293B"/>
                </a:solidFill>
                <a:latin typeface="Arial"/>
              </a:rPr>
              <a:t>High-confidence dynamic ETAs enable seamless insertion of 2-4 </a:t>
            </a:r>
            <a:r>
              <a:rPr sz="1100" dirty="0" err="1">
                <a:solidFill>
                  <a:srgbClr val="1E293B"/>
                </a:solidFill>
                <a:latin typeface="Arial"/>
              </a:rPr>
              <a:t>hr</a:t>
            </a:r>
            <a:r>
              <a:rPr sz="1100" dirty="0">
                <a:solidFill>
                  <a:srgbClr val="1E293B"/>
                </a:solidFill>
                <a:latin typeface="Arial"/>
              </a:rPr>
              <a:t> maintenance blocks without disrupting express trains.</a:t>
            </a:r>
          </a:p>
          <a:p>
            <a:pPr>
              <a:spcAft>
                <a:spcPts val="300"/>
              </a:spcAft>
            </a:pPr>
            <a:r>
              <a:rPr sz="1100" b="1" dirty="0">
                <a:solidFill>
                  <a:srgbClr val="000000"/>
                </a:solidFill>
                <a:latin typeface="Arial"/>
              </a:rPr>
              <a:t>• Live Passenger Transparency: </a:t>
            </a:r>
            <a:r>
              <a:rPr sz="1100" dirty="0">
                <a:solidFill>
                  <a:srgbClr val="1E293B"/>
                </a:solidFill>
                <a:latin typeface="Arial"/>
              </a:rPr>
              <a:t>Replaces static timetable drift with live, weather-aware dynamic ETA countdowns on passenger portals.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03320"/>
            <a:ext cx="50292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spcAft>
                <a:spcPts val="400"/>
              </a:spcAft>
              <a:defRPr sz="1600" b="1">
                <a:solidFill>
                  <a:srgbClr val="1F497D"/>
                </a:solidFill>
                <a:latin typeface="Arial"/>
              </a:defRPr>
            </a:pPr>
            <a:r>
              <a:t>Benefits (Dynamic ETA Powered):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Arial"/>
              </a:rPr>
              <a:t>Economic: </a:t>
            </a:r>
            <a:r>
              <a:rPr sz="1100" b="1">
                <a:solidFill>
                  <a:srgbClr val="000000"/>
                </a:solidFill>
                <a:latin typeface="Arial"/>
              </a:rPr>
              <a:t>35% Idling Reduction: </a:t>
            </a:r>
            <a:r>
              <a:rPr sz="1100">
                <a:solidFill>
                  <a:srgbClr val="1E293B"/>
                </a:solidFill>
                <a:latin typeface="Arial"/>
              </a:rPr>
              <a:t>Dynamic ETA dispatching minimizes loop-line waiting, boosting section line capacity to 92% and saving ₹100s of crores in diesel and electric traction energy.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Arial"/>
              </a:rPr>
              <a:t>Safety &amp; Social: </a:t>
            </a:r>
            <a:r>
              <a:rPr sz="1100" b="1">
                <a:solidFill>
                  <a:srgbClr val="000000"/>
                </a:solidFill>
                <a:latin typeface="Arial"/>
              </a:rPr>
              <a:t>Guaranteed Headway Gating: </a:t>
            </a:r>
            <a:r>
              <a:rPr sz="1100">
                <a:solidFill>
                  <a:srgbClr val="1E293B"/>
                </a:solidFill>
                <a:latin typeface="Arial"/>
              </a:rPr>
              <a:t>Dynamic ETA calculations enforce a strict 5-min safety headway buffer before track possession, protecting maintenance workers and eliminating collision risks.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Arial"/>
              </a:rPr>
              <a:t>Environmental: </a:t>
            </a:r>
            <a:r>
              <a:rPr sz="1100" b="1">
                <a:solidFill>
                  <a:srgbClr val="000000"/>
                </a:solidFill>
                <a:latin typeface="Arial"/>
              </a:rPr>
              <a:t>Lower Carbon Emissions: </a:t>
            </a:r>
            <a:r>
              <a:rPr sz="1100">
                <a:solidFill>
                  <a:srgbClr val="1E293B"/>
                </a:solidFill>
                <a:latin typeface="Arial"/>
              </a:rPr>
              <a:t>Optimized speed trajectories and reduced outer-signal idling drastically curb locomotive diesel burn and brake-shoe particulate emissions.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1325880"/>
            <a:ext cx="6217920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 i="1">
                <a:solidFill>
                  <a:srgbClr val="92852C"/>
                </a:solidFill>
                <a:latin typeface="Times New Roman"/>
              </a:defRPr>
            </a:pPr>
            <a:r>
              <a:t>PROTOTYPE IMAGES (DYNAMIC ETA WORKBENCH &amp; TRACKING)</a:t>
            </a:r>
          </a:p>
        </p:txBody>
      </p:sp>
      <p:pic>
        <p:nvPicPr>
          <p:cNvPr id="11" name="Picture 10" descr="prototype_controller_work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874519"/>
            <a:ext cx="6217920" cy="2148840"/>
          </a:xfrm>
          <a:prstGeom prst="rect">
            <a:avLst/>
          </a:prstGeom>
        </p:spPr>
      </p:pic>
      <p:pic>
        <p:nvPicPr>
          <p:cNvPr id="12" name="Picture 11" descr="prototype_passenger_trac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114800"/>
            <a:ext cx="3017520" cy="2103120"/>
          </a:xfrm>
          <a:prstGeom prst="rect">
            <a:avLst/>
          </a:prstGeom>
        </p:spPr>
      </p:pic>
      <p:pic>
        <p:nvPicPr>
          <p:cNvPr id="13" name="Picture 12" descr="prototype_weather_guardrai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4160520"/>
            <a:ext cx="3017520" cy="21031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6CBE35-5F62-882A-7551-01DB26984B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h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64592"/>
            <a:ext cx="1737360" cy="1039568"/>
          </a:xfrm>
          <a:prstGeom prst="rect">
            <a:avLst/>
          </a:prstGeom>
        </p:spPr>
      </p:pic>
      <p:pic>
        <p:nvPicPr>
          <p:cNvPr id="3" name="Picture 2" descr="tea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"/>
            <a:ext cx="1005840" cy="10058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6419088"/>
            <a:ext cx="6705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FFFFF"/>
                </a:solidFill>
                <a:latin typeface="Calibr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19088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5603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F497D"/>
                </a:solidFill>
                <a:latin typeface="Times New Roman"/>
              </a:defRPr>
            </a:pPr>
            <a:r>
              <a:t>RESEARCH AND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277295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• Ministry of Railways, Government of India (2024). </a:t>
            </a:r>
            <a:r>
              <a:rPr sz="1300">
                <a:solidFill>
                  <a:srgbClr val="1E293B"/>
                </a:solidFill>
                <a:latin typeface="Arial"/>
              </a:rPr>
              <a:t>Indian Railways General &amp; Subsidiary Rules (G&amp;SR) and Block Working Manual for Automatic Block Signaling Corridors. Railway Board.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• Research Designs and Standards Organisation - RDSO (2023). </a:t>
            </a:r>
            <a:r>
              <a:rPr sz="1300">
                <a:solidFill>
                  <a:srgbClr val="1E293B"/>
                </a:solidFill>
                <a:latin typeface="Arial"/>
              </a:rPr>
              <a:t>Functional Requirement Specification for Section Capacity Optimization and Real-Time Train Management System (TMS). Ministry of Railways, Lucknow.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• Perron, L., &amp; Furnon, V. (2024). </a:t>
            </a:r>
            <a:r>
              <a:rPr sz="1300">
                <a:solidFill>
                  <a:srgbClr val="1E293B"/>
                </a:solidFill>
                <a:latin typeface="Arial"/>
              </a:rPr>
              <a:t>Google OR-Tools CP-SAT Solver: Advanced Constraint Programming for Combinatorial Scheduling and Headway Optimization. Google AI Operations Research.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• India Meteorological Department - IMD, MoES (2026). </a:t>
            </a:r>
            <a:r>
              <a:rPr sz="1300">
                <a:solidFill>
                  <a:srgbClr val="1E293B"/>
                </a:solidFill>
                <a:latin typeface="Arial"/>
              </a:rPr>
              <a:t>Standard Operating Procedure for Meteorological Risk Profiling and Adverse Weather Early-Warning Safety Advisories in Transport Infrastructure.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• Centre for Railway Information Systems - CRIS (2025). </a:t>
            </a:r>
            <a:r>
              <a:rPr sz="1300">
                <a:solidFill>
                  <a:srgbClr val="1E293B"/>
                </a:solidFill>
                <a:latin typeface="Arial"/>
              </a:rPr>
              <a:t>National Train Enquiry System (NTES) API Architecture and Real-Time Train Information System (RTIS - ISRO NavIC Locomotive GPS Telemetry).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00000"/>
                </a:solidFill>
                <a:latin typeface="Arial"/>
              </a:rPr>
              <a:t>• Chen, T., &amp; Guestrin, C. (2016). </a:t>
            </a:r>
            <a:r>
              <a:rPr sz="1300">
                <a:solidFill>
                  <a:srgbClr val="1E293B"/>
                </a:solidFill>
                <a:latin typeface="Arial"/>
              </a:rPr>
              <a:t>XGBoost: A Scalable Tree Boosting System. Proceedings of the 22nd ACM SIGKDD International Conference on Knowledge Discovery and Data Mining.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96AACC-1386-1448-77D2-F65EFF660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12" name="Rectangle 11">
            <a:hlinkClick r:id="rId5" tooltip="LINK"/>
            <a:extLst>
              <a:ext uri="{FF2B5EF4-FFF2-40B4-BE49-F238E27FC236}">
                <a16:creationId xmlns:a16="http://schemas.microsoft.com/office/drawing/2014/main" id="{927B3F2B-EAFF-F05E-059B-C14C383A0B98}"/>
              </a:ext>
            </a:extLst>
          </p:cNvPr>
          <p:cNvSpPr/>
          <p:nvPr/>
        </p:nvSpPr>
        <p:spPr>
          <a:xfrm>
            <a:off x="9530791" y="4151376"/>
            <a:ext cx="1670609" cy="2103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LINK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986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akhil rathlavath</cp:lastModifiedBy>
  <cp:revision>1</cp:revision>
  <dcterms:created xsi:type="dcterms:W3CDTF">2013-01-27T09:14:16Z</dcterms:created>
  <dcterms:modified xsi:type="dcterms:W3CDTF">2026-09-18T18:27:51Z</dcterms:modified>
  <cp:category/>
</cp:coreProperties>
</file>